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💹 WealthPilot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1051560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14B8A6"/>
                </a:solidFill>
                <a:latin typeface="Segoe UI"/>
              </a:rPr>
              <a:t>An agentic, cited RAG assistant for Indian markets (NIFTY 100)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97680"/>
            <a:ext cx="10515600" cy="12801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3F4F6"/>
                </a:solidFill>
                <a:latin typeface="Segoe UI"/>
              </a:rPr>
              <a:t>Explains · contextualises · personalises — never directs, never fabricates.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RAG + live tools + memory + hard guardrails   ·   persona: Marcus Chen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105156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⚠  Educational only — not investment advice.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The problem — and WealthPilot's promise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4B8A6"/>
                </a:solidFill>
                <a:latin typeface="Segoe UI"/>
              </a:rPr>
              <a:t>Why another finance assistant?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4480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45352" y="1371600"/>
            <a:ext cx="5486400" cy="4480560"/>
          </a:xfrm>
          <a:prstGeom prst="roundRect">
            <a:avLst/>
          </a:prstGeom>
          <a:solidFill>
            <a:srgbClr val="E8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49377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11D48"/>
                </a:solidFill>
                <a:latin typeface="Segoe UI"/>
              </a:rPr>
              <a:t>❌  Generic LLM finance bots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029200" cy="35661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Hallucinate prices &amp; returns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Give directive "buy this" advice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No source you can verify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Forget who you are each session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No compliance / audit trail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1554480"/>
            <a:ext cx="49377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Segoe UI"/>
              </a:rPr>
              <a:t>✅  WealthPilot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194560"/>
            <a:ext cx="5029200" cy="35661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Every number cited to a doc or live tool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Educates — never issues buy/sell calls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Inline [S#] citations + trace panel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Cross-session memory (risk, holdings)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Deterministic guardrails + disclaimer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WealthPilot — educational finance assistant · not investment advice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Four capabilities behind one safety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697480" cy="42062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697480" cy="82296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2697480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📚  Cited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2423160" cy="3017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Hybrid retrieval + rerank over a curated NIFTY-100 corpus; answers with [S#] citations.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82696" y="1463040"/>
            <a:ext cx="2697480" cy="42062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82696" y="1463040"/>
            <a:ext cx="2697480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82696" y="1481328"/>
            <a:ext cx="2697480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🛠️  Live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2468880"/>
            <a:ext cx="2423160" cy="3017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Real-time quotes, index levels, portfolio value/P&amp;L, rebalance math — no invented numbers.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08192" y="1463040"/>
            <a:ext cx="2697480" cy="42062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08192" y="1463040"/>
            <a:ext cx="2697480" cy="822960"/>
          </a:xfrm>
          <a:prstGeom prst="roundRect">
            <a:avLst/>
          </a:prstGeom>
          <a:solidFill>
            <a:srgbClr val="15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08192" y="1481328"/>
            <a:ext cx="2697480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🧠 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2468880"/>
            <a:ext cx="2423160" cy="3017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Per-user risk profile &amp; holdings for personalised (not directive)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3688" y="1463040"/>
            <a:ext cx="2697480" cy="42062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933688" y="1463040"/>
            <a:ext cx="2697480" cy="8229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33688" y="1481328"/>
            <a:ext cx="2697480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🛡️ 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2468880"/>
            <a:ext cx="2423160" cy="3017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Deterministic: block directives, enforce citations, inject disclaimer, safe-path risky asks.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WealthPilot — educational finance assistant · not investment advice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3360" y="173531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Architecture — request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4B8A6"/>
                </a:solidFill>
                <a:latin typeface="Segoe UI"/>
              </a:rPr>
              <a:t>One turn, end to 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78808" y="1325880"/>
            <a:ext cx="3840480" cy="566928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Gradio UI  (chat + trace)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89320" y="1892807"/>
            <a:ext cx="219456" cy="256032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78808" y="2148840"/>
            <a:ext cx="3840480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INPUT GUARDRAIL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flag directive / risky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89320" y="2715768"/>
            <a:ext cx="219456" cy="256032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78808" y="2971800"/>
            <a:ext cx="3840480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AGENT ORCHESTRATOR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router + arg-extract · 1 LLM 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5439" y="3977639"/>
            <a:ext cx="2103120" cy="868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get_quote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live price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863" y="3977639"/>
            <a:ext cx="2103120" cy="868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get_index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live index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4287" y="3977639"/>
            <a:ext cx="2103120" cy="868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portfolio_summary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value / P&amp;L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3711" y="3977639"/>
            <a:ext cx="2103120" cy="868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rebalance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calc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3135" y="3977639"/>
            <a:ext cx="2103120" cy="868680"/>
          </a:xfrm>
          <a:prstGeom prst="roundRect">
            <a:avLst/>
          </a:prstGeom>
          <a:solidFill>
            <a:srgbClr val="15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general_knowledge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→ Agentic RAG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89320" y="5029200"/>
            <a:ext cx="219456" cy="256032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178808" y="5303520"/>
            <a:ext cx="3840480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OUTPUT GUARDRAIL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no-directive · cite · disclaimer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89320" y="5943600"/>
            <a:ext cx="219456" cy="256032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178808" y="6199632"/>
            <a:ext cx="3840480" cy="4572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cited answer + trace →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2075688"/>
            <a:ext cx="2377440" cy="18288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dirty="0">
                <a:solidFill>
                  <a:srgbClr val="6B7280"/>
                </a:solidFill>
                <a:latin typeface="Segoe UI"/>
              </a:rPr>
              <a:t>Tool lanes format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dirty="0">
                <a:solidFill>
                  <a:srgbClr val="6B7280"/>
                </a:solidFill>
                <a:latin typeface="Segoe UI"/>
              </a:rPr>
              <a:t>output deterministically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dirty="0">
                <a:solidFill>
                  <a:srgbClr val="6B7280"/>
                </a:solidFill>
                <a:latin typeface="Segoe UI"/>
              </a:rPr>
              <a:t>→ no fabricated #s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WealthPilot — educational finance assistant · not investment advice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Agentic RAG — fixing the recall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84124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dirty="0">
                <a:solidFill>
                  <a:srgbClr val="14B8A6"/>
                </a:solidFill>
                <a:latin typeface="Segoe UI"/>
              </a:rPr>
              <a:t>the </a:t>
            </a:r>
            <a:r>
              <a:rPr sz="1200" b="0" dirty="0" err="1">
                <a:solidFill>
                  <a:srgbClr val="14B8A6"/>
                </a:solidFill>
                <a:latin typeface="Segoe UI"/>
              </a:rPr>
              <a:t>general_knowledge</a:t>
            </a:r>
            <a:r>
              <a:rPr sz="1200" b="0" dirty="0">
                <a:solidFill>
                  <a:srgbClr val="14B8A6"/>
                </a:solidFill>
                <a:latin typeface="Segoe UI"/>
              </a:rPr>
              <a:t>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6766560" cy="65836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① Multi-query   </a:t>
            </a:r>
            <a:r>
              <a:rPr sz="1200">
                <a:solidFill>
                  <a:srgbClr val="F3F4F6"/>
                </a:solidFill>
                <a:latin typeface="Segoe UI"/>
              </a:rPr>
              <a:t>— LLM writes N reformulations (RAG-Fusion)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6766560" cy="658368"/>
          </a:xfrm>
          <a:prstGeom prst="roundRect">
            <a:avLst/>
          </a:prstGeom>
          <a:solidFill>
            <a:srgbClr val="15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② Hybrid retrieve   </a:t>
            </a:r>
            <a:r>
              <a:rPr sz="1200">
                <a:solidFill>
                  <a:srgbClr val="F3F4F6"/>
                </a:solidFill>
                <a:latin typeface="Segoe UI"/>
              </a:rPr>
              <a:t>— pgvector dense  +  Postgres keyword (per query)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63240"/>
            <a:ext cx="6766560" cy="658368"/>
          </a:xfrm>
          <a:prstGeom prst="roundRect">
            <a:avLst/>
          </a:prstGeom>
          <a:solidFill>
            <a:srgbClr val="15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③ RRF fusion   </a:t>
            </a:r>
            <a:r>
              <a:rPr sz="1200">
                <a:solidFill>
                  <a:srgbClr val="F3F4F6"/>
                </a:solidFill>
                <a:latin typeface="Segoe UI"/>
              </a:rPr>
              <a:t>— dedup &amp; merge candidate lists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6766560" cy="658368"/>
          </a:xfrm>
          <a:prstGeom prst="roundRect">
            <a:avLst/>
          </a:prstGeom>
          <a:solidFill>
            <a:srgbClr val="15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④ Cross-encoder rerank   </a:t>
            </a:r>
            <a:r>
              <a:rPr sz="1200">
                <a:solidFill>
                  <a:srgbClr val="F3F4F6"/>
                </a:solidFill>
                <a:latin typeface="Segoe UI"/>
              </a:rPr>
              <a:t>— score vs the ORIGINAL 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09160"/>
            <a:ext cx="6766560" cy="65836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⑤ CRAG grader   </a:t>
            </a:r>
            <a:r>
              <a:rPr sz="1200">
                <a:solidFill>
                  <a:srgbClr val="F3F4F6"/>
                </a:solidFill>
                <a:latin typeface="Segoe UI"/>
              </a:rPr>
              <a:t>— relevant? sufficient? what's missing?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286000"/>
            <a:ext cx="3931920" cy="10058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sufficient → ⑦ grounded answer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LLM answers ONLY from sources, cites [S#]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566160"/>
            <a:ext cx="3931920" cy="1005840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insufficient → ⑥ corrective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add follow-up queries, relax filters →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23560"/>
            <a:ext cx="10972800" cy="10058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Why it matters: </a:t>
            </a:r>
            <a:r>
              <a:rPr sz="1300" b="0">
                <a:solidFill>
                  <a:srgbClr val="1F2937"/>
                </a:solidFill>
                <a:latin typeface="Segoe UI"/>
              </a:rPr>
              <a:t>a plain top-k RAG misses the FMCG sector table; the loop reformulates, re-retrieves and grades until it surfaces </a:t>
            </a:r>
            <a:r>
              <a:rPr sz="1300" b="1">
                <a:solidFill>
                  <a:srgbClr val="10B981"/>
                </a:solidFill>
                <a:latin typeface="Segoe UI"/>
              </a:rPr>
              <a:t>“Nifty FMCG −10.61%”</a:t>
            </a:r>
            <a:r>
              <a:rPr sz="1300" b="0">
                <a:solidFill>
                  <a:srgbClr val="1F2937"/>
                </a:solidFill>
                <a:latin typeface="Segoe UI"/>
              </a:rPr>
              <a:t> — correctly cited.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WealthPilot — educational finance assistant · not investment advice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Guardrails — educational by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82880" cy="65836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97280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120640" cy="65836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No buy / sell / invest-now directive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417320"/>
            <a:ext cx="5486400" cy="65836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deterministic output check + LLM rewrite + prompt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182880" cy="65836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1097280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5120640" cy="65836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Every figure cited to a source /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94560"/>
            <a:ext cx="5486400" cy="65836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grounding rule + citation enforcement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182880" cy="65836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971800"/>
            <a:ext cx="1097280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971800"/>
            <a:ext cx="5120640" cy="65836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Mandatory educational disclaimer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971800"/>
            <a:ext cx="5486400" cy="65836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auto-injected on every answer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40"/>
            <a:ext cx="182880" cy="65836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749040"/>
            <a:ext cx="1097280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749040"/>
            <a:ext cx="5120640" cy="65836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Risky asks → safe educational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749040"/>
            <a:ext cx="5486400" cy="65836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pulls memory, references user's risk cap, defers decision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26280"/>
            <a:ext cx="182880" cy="65836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4526280"/>
            <a:ext cx="1097280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526280"/>
            <a:ext cx="5120640" cy="65836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No fabricated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526280"/>
            <a:ext cx="5486400" cy="65836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abstain / “n/a” when retrieval is weak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03520"/>
            <a:ext cx="182880" cy="65836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5303520"/>
            <a:ext cx="1097280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303520"/>
            <a:ext cx="5120640" cy="65836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Full explainability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5303520"/>
            <a:ext cx="5486400" cy="65836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per-response trace: route, sources, guardrail verdict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WealthPilot — educational finance assistant · not investment advice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4B8A6"/>
                </a:solidFill>
                <a:latin typeface="Segoe UI"/>
              </a:rPr>
              <a:t>provider-switchable, runs free on Colab or in a container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64240" cy="566928"/>
          </a:xfrm>
          <a:prstGeom prst="roundRect">
            <a:avLst/>
          </a:prstGeom>
          <a:solidFill>
            <a:srgbClr val="E8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301752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463040"/>
            <a:ext cx="758952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Segoe UI"/>
              </a:rPr>
              <a:t>Groq · Azure gpt-4o-mini · Ollama · custom (OpenAI-compatible)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21408"/>
            <a:ext cx="11064240" cy="566928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121408"/>
            <a:ext cx="301752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Fast helper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121408"/>
            <a:ext cx="758952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Segoe UI"/>
              </a:rPr>
              <a:t>decoupled model for subquery-gen + grading (FAST_LLM_*)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79776"/>
            <a:ext cx="11064240" cy="566928"/>
          </a:xfrm>
          <a:prstGeom prst="roundRect">
            <a:avLst/>
          </a:prstGeom>
          <a:solidFill>
            <a:srgbClr val="E8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779776"/>
            <a:ext cx="301752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779776"/>
            <a:ext cx="758952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Segoe UI"/>
              </a:rPr>
              <a:t>mxbai-embed-large (1024-d)  ·  light: nomic-embed-text (768-d)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38144"/>
            <a:ext cx="11064240" cy="566928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438144"/>
            <a:ext cx="301752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Reranker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438144"/>
            <a:ext cx="758952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Segoe UI"/>
              </a:rPr>
              <a:t>bge-reranker-v2-m3  ·  light: mxbai-rerank-xsmall-v1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96512"/>
            <a:ext cx="11064240" cy="566928"/>
          </a:xfrm>
          <a:prstGeom prst="roundRect">
            <a:avLst/>
          </a:prstGeom>
          <a:solidFill>
            <a:srgbClr val="E8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096512"/>
            <a:ext cx="301752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Vector store +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096512"/>
            <a:ext cx="758952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Segoe UI"/>
              </a:rPr>
              <a:t>PostgreSQL + pgvector (HNSW + GIN)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54880"/>
            <a:ext cx="11064240" cy="566928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754880"/>
            <a:ext cx="301752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UI /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754880"/>
            <a:ext cx="758952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Segoe UI"/>
              </a:rPr>
              <a:t>Gradio  ·  FastAPI + Uvicorn (Docker)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13248"/>
            <a:ext cx="11064240" cy="566928"/>
          </a:xfrm>
          <a:prstGeom prst="roundRect">
            <a:avLst/>
          </a:prstGeom>
          <a:solidFill>
            <a:srgbClr val="E8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413248"/>
            <a:ext cx="301752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A43"/>
                </a:solidFill>
                <a:latin typeface="Segoe UI"/>
              </a:rPr>
              <a:t>Data 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413248"/>
            <a:ext cx="7589520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Segoe UI"/>
              </a:rPr>
              <a:t>NSE · Yahoo Finance · Screener.in · AMFI · niftyindices · RSS (free/delayed)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WealthPilot — educational finance assistant · not investment advice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🎬 Demo script — what to show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4B8A6"/>
                </a:solidFill>
                <a:latin typeface="Segoe UI"/>
              </a:rPr>
              <a:t>user: Marcus Chen (U001) · open the 🔎 Agent trace panel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7315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17320"/>
            <a:ext cx="694944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Ask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417320"/>
            <a:ext cx="310896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Shows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73152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920240"/>
            <a:ext cx="694944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What's a good low-cost index fund for a moderate-risk investor?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920240"/>
            <a:ext cx="32004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Cited RAG + education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87168"/>
            <a:ext cx="11247120" cy="548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487168"/>
            <a:ext cx="73152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87168"/>
            <a:ext cx="694944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What's the current price of Reliance?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87168"/>
            <a:ext cx="32004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get_quote + cache badge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54096"/>
            <a:ext cx="11247120" cy="548640"/>
          </a:xfrm>
          <a:prstGeom prst="rect">
            <a:avLst/>
          </a:prstGeom>
          <a:solidFill>
            <a:srgbClr val="E7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054096"/>
            <a:ext cx="73152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054096"/>
            <a:ext cx="694944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2937"/>
                </a:solidFill>
                <a:latin typeface="Segoe UI"/>
              </a:rPr>
              <a:t>How did the FMCG sector perform in the last 6 months?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054096"/>
            <a:ext cx="32004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★ Agentic recall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21024"/>
            <a:ext cx="11247120" cy="548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621024"/>
            <a:ext cx="73152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621024"/>
            <a:ext cx="694944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How is my portfolio doing?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621024"/>
            <a:ext cx="32004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Memory + live P&amp;L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87952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4187952"/>
            <a:ext cx="73152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187952"/>
            <a:ext cx="694944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Remind me what my risk tolerance 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187952"/>
            <a:ext cx="32004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Memory recall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754880"/>
            <a:ext cx="73152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754880"/>
            <a:ext cx="694944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If I move ₹5,000 from bonds to equities…?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754880"/>
            <a:ext cx="32004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rebalance calc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21808"/>
            <a:ext cx="11247120" cy="548640"/>
          </a:xfrm>
          <a:prstGeom prst="rect">
            <a:avLst/>
          </a:prstGeom>
          <a:solidFill>
            <a:srgbClr val="E7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5321808"/>
            <a:ext cx="73152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321808"/>
            <a:ext cx="694944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2937"/>
                </a:solidFill>
                <a:latin typeface="Segoe UI"/>
              </a:rPr>
              <a:t>Should I sell everything and buy Bitcoin?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321808"/>
            <a:ext cx="32004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🛡️ Guardrail (no directive)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WealthPilot — educational finance assistant · not investment advice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Performance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4B8A6"/>
                </a:solidFill>
                <a:latin typeface="Segoe UI"/>
              </a:rPr>
              <a:t>the reranker was the bottleneck — here's the fix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486400" cy="42976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486400" cy="4297680"/>
          </a:xfrm>
          <a:prstGeom prst="roundRect">
            <a:avLst/>
          </a:prstGeom>
          <a:solidFill>
            <a:srgbClr val="E8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49377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Segoe UI"/>
              </a:rPr>
              <a:t>What we profiled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5029200" cy="33832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LLM calls are fast; the </a:t>
            </a:r>
            <a:r>
              <a:rPr sz="1400" b="1">
                <a:solidFill>
                  <a:srgbClr val="1F2937"/>
                </a:solidFill>
                <a:latin typeface="Segoe UI"/>
              </a:rPr>
              <a:t>cross-encoder reranker</a:t>
            </a:r>
            <a:r>
              <a:rPr sz="1400" b="0">
                <a:solidFill>
                  <a:srgbClr val="1F2937"/>
                </a:solidFill>
                <a:latin typeface="Segoe UI"/>
              </a:rPr>
              <a:t> dominated latency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CPU: ~1.3 s / pair × pool 40 → ~50 s/pass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Agentic loop reranks more than 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1645920"/>
            <a:ext cx="493776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Segoe UI"/>
              </a:rPr>
              <a:t>How we fixed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286000"/>
            <a:ext cx="5029200" cy="33832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Move LLM to </a:t>
            </a:r>
            <a:r>
              <a:rPr sz="1400" b="1">
                <a:solidFill>
                  <a:srgbClr val="1F2937"/>
                </a:solidFill>
                <a:latin typeface="Segoe UI"/>
              </a:rPr>
              <a:t>Groq</a:t>
            </a:r>
            <a:r>
              <a:rPr sz="1400" b="0">
                <a:solidFill>
                  <a:srgbClr val="1F2937"/>
                </a:solidFill>
                <a:latin typeface="Segoe UI"/>
              </a:rPr>
              <a:t> (hosted, very fast)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Run reranker on </a:t>
            </a:r>
            <a:r>
              <a:rPr sz="1400" b="1">
                <a:solidFill>
                  <a:srgbClr val="1F2937"/>
                </a:solidFill>
                <a:latin typeface="Segoe UI"/>
              </a:rPr>
              <a:t>GPU</a:t>
            </a:r>
            <a:r>
              <a:rPr sz="1400" b="0">
                <a:solidFill>
                  <a:srgbClr val="1F2937"/>
                </a:solidFill>
                <a:latin typeface="Segoe UI"/>
              </a:rPr>
              <a:t> (Colab T4) — sub-second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Light models: nomic-embed + mxbai-xsmall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Tunables: pool, iters, single-pass mode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Deploy: FastAPI + Docker (reranker pre-warmed)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WealthPilot — educational finance assistant · not investment advice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657600" cy="42976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65760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657600" cy="6400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Now (done)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3291840" cy="32918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Hybrid retrieve + rerank + gate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Agentic RAG (multi-query + CRAG)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Tools, memory, guardrails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Gradio UI + FastAPI API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Colab (free GPU)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463040"/>
            <a:ext cx="3657600" cy="42976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61104" y="1463040"/>
            <a:ext cx="3657600" cy="6400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61104" y="1463040"/>
            <a:ext cx="3657600" cy="6400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331720"/>
            <a:ext cx="3291840" cy="32918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Self-RAG answer critique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Self-query metadata filters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Query decomposition (compare)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Adaptive complexity router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463040"/>
            <a:ext cx="3657600" cy="42976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65008" y="1463040"/>
            <a:ext cx="3657600" cy="640080"/>
          </a:xfrm>
          <a:prstGeom prst="roundRect">
            <a:avLst/>
          </a:prstGeom>
          <a:solidFill>
            <a:srgbClr val="15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65008" y="1463040"/>
            <a:ext cx="3657600" cy="6400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Later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331720"/>
            <a:ext cx="3291840" cy="32918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Contextual Retrieval re-ingest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pgvector memory store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Eval harness (golden Q&amp;A)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Per-row/table-aware chunking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WealthPilot — educational finance assistant · not investment advice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4B8A6"/>
                </a:solidFill>
                <a:latin typeface="Segoe UI"/>
              </a:rPr>
              <a:t>WealthPilot — grounded, cited, guarded finance education for NIFTY 100.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97680"/>
            <a:ext cx="1051560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3F4F6"/>
                </a:solidFill>
                <a:latin typeface="Segoe UI"/>
              </a:rPr>
              <a:t>Demo: Gradio share link  ·  API: FastAPI /chat  ·  Colab: free GPU stack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035040"/>
            <a:ext cx="105156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⚠  Educational only — not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1046</Words>
  <Application>Microsoft Office PowerPoint</Application>
  <PresentationFormat>Widescreen</PresentationFormat>
  <Paragraphs>170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Pavan13 Kumar</cp:lastModifiedBy>
  <cp:revision>3</cp:revision>
  <dcterms:created xsi:type="dcterms:W3CDTF">2013-01-27T09:14:16Z</dcterms:created>
  <dcterms:modified xsi:type="dcterms:W3CDTF">2026-07-16T02:35:28Z</dcterms:modified>
  <cp:category/>
</cp:coreProperties>
</file>